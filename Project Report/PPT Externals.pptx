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61" r:id="rId5"/>
    <p:sldId id="268" r:id="rId6"/>
    <p:sldId id="296" r:id="rId7"/>
    <p:sldId id="297" r:id="rId8"/>
    <p:sldId id="298" r:id="rId9"/>
    <p:sldId id="299" r:id="rId10"/>
    <p:sldId id="262" r:id="rId11"/>
    <p:sldId id="279" r:id="rId12"/>
    <p:sldId id="292" r:id="rId13"/>
    <p:sldId id="269" r:id="rId14"/>
    <p:sldId id="281" r:id="rId15"/>
    <p:sldId id="300" r:id="rId16"/>
    <p:sldId id="288" r:id="rId17"/>
    <p:sldId id="293" r:id="rId18"/>
    <p:sldId id="294" r:id="rId19"/>
    <p:sldId id="295" r:id="rId20"/>
    <p:sldId id="287" r:id="rId21"/>
    <p:sldId id="284" r:id="rId22"/>
    <p:sldId id="289" r:id="rId23"/>
    <p:sldId id="290" r:id="rId24"/>
    <p:sldId id="291" r:id="rId25"/>
    <p:sldId id="265" r:id="rId26"/>
    <p:sldId id="266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658E2C-4649-44DA-94C1-04F267F3CF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B7DE3-ECF5-4C7A-8F5E-3EA1E35478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94281A2-F896-4B7C-816C-0129ABD5D8C3}" type="datetimeFigureOut">
              <a:rPr lang="en-IN"/>
              <a:pPr>
                <a:defRPr/>
              </a:pPr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A8B8D-3406-4B1A-95B5-D7D9E67C65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r>
              <a:rPr lang="en-IN"/>
              <a:t>Dept. of CSE, GAT                                           2017-18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8401D-4DA3-47AE-8334-EDDCF49491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D5E3CDE-57F8-4A7F-948C-2F8E13C40C3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5BD3D8-ABFE-46E9-B416-B2B6D66ED3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81FB6B-818B-439F-AA9D-F4A4C51D9C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7A2982A-07C7-4771-95EF-D985DAEE4650}" type="datetimeFigureOut">
              <a:rPr lang="en-IN"/>
              <a:pPr>
                <a:defRPr/>
              </a:pPr>
              <a:t>02-01-2026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B9B77C-9113-4E6B-BC26-A76A14DCF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07DB35-67A4-4B1B-A560-6A01BC5C2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0BFDF-1B36-40DC-B782-279FFBBF56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r>
              <a:rPr lang="en-IN"/>
              <a:t>Dept. of CSE, GAT                                           2017-18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6572-CE2A-4A31-AE1D-CC249A717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9B157FE-FA23-47D8-9ACC-07EE1C07ABF3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8236CCB-3A26-49F0-8FAB-82DB49ECC1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BDD9D4F9-5DE9-4794-87FE-614D67F33A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8C5CDCE4-EAFA-4660-925B-C5BD2BA8E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371BF2B-4D55-4776-A4D2-27B33421FCC5}" type="slidenum">
              <a:rPr lang="en-IN" altLang="en-US"/>
              <a:pPr/>
              <a:t>1</a:t>
            </a:fld>
            <a:endParaRPr lang="en-IN" altLang="en-US"/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98CA054D-D0E2-4C9D-B954-0BA03C4F91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/>
              <a:t>Dept. of CSE, GAT                                           2017-18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6609D17F-119E-4B1D-ABBD-53940EDF13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1C888B25-F3FD-416D-8BE9-A608D215BD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altLang="en-US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DE788C8-69A8-4956-881F-214A6DBB3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1C98BBF-01F6-470D-A37B-6D74AE336209}" type="slidenum">
              <a:rPr lang="en-IN" altLang="en-US"/>
              <a:pPr/>
              <a:t>2</a:t>
            </a:fld>
            <a:endParaRPr lang="en-IN" altLang="en-US"/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1279747B-867C-4CC4-B780-3CA2B346EC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/>
              <a:t>Dept. of CSE, GAT                                           2017-18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99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A0DC5A0-96A6-4077-9374-2F486B406B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3A68EC-B0CF-43F1-ADE1-DBFFF0EB9E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C42BF0-F0BA-4BEC-BFEF-185B471DC7C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50669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E4DAB-4EF9-48AA-87A2-CFAA120C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C9550-FE34-443A-BC46-34B2C42C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03E00-85EC-4E9E-8BCB-D60E7B1D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E256C-CCEB-47B7-A3F7-A664EDC74B4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3966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2BF65D-02AB-4BE6-8D14-842F88A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7A10FB-B8EC-4456-9E91-867610FD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5A331A-5AD0-4EBA-A248-A6F30991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0169D-C4DB-4DBB-AF90-73CD91804C6A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0855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E57CC81-4F11-4040-9A90-C5792A9E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1761E16-F943-46EE-AFE8-9BA595D0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800408-5E1D-49FD-8822-B9F12097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7046A-29DF-4514-BC8D-EEC16223F49E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7362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42C6E7D-3160-4CEF-B6D8-0C904FD2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FF05DBB-FF64-4A7E-9407-7F5A27D7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130D4C-C934-4014-8723-63B25CC6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AA51E-A9FC-4139-873E-8EA3AD7D43B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4927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AB968AF-F49B-422F-BFAE-4969C882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54676E3-0B21-42B7-8C4C-FD23E437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56A4DCD-21E8-4B98-B17F-05C4A6C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2A3726-8723-4344-AD87-7E50D879CA2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973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5FCD02-ACBC-4777-807D-6BCFD2E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C8652-801F-4C4F-83AC-289BFF45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12532C-0B78-4562-AF0E-925724E8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49531-6430-4586-95B8-F96715E1CF20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3386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D666C8-F70A-4583-9A0B-F8FB6BEA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4C8F10-3513-44BB-A9E8-D1C5BC67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E35637-F55F-4A29-AE1B-1C501930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2926B6-D9C7-45D2-9828-79D5AADF281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19274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39DB1-B3F9-4166-A5AC-D437AC49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271C5-5D11-43C2-A3DB-96ADEFFC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CC7A6-7672-4E81-B10E-ED664156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1C889-446B-4EA4-AB43-32BF69A4ED9F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959837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84590-25BD-42BE-9C49-A07BD58A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97F58-0853-40EF-BDA6-B8215D89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40CFB-B4F3-4D17-A8E6-A5E9875C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10665-5B81-4BD6-BD5D-5661B7F3A197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5872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3B2F070-B384-4CD0-B99F-A30399CEB2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F5A6AD4-DB58-4EBC-944B-706D042F35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BC24-6785-4461-B36C-3CCCD8CEB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AC468-0C9E-4D0D-BFC0-4AA19A4AA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Dept of CSE,GAT                                                                                                    2024-25                                                                                                                                                                       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46068-D519-485E-9494-D3146CFAE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0D3E1A8-CB02-49C7-B2C5-C4EBD53BB114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7D31-16A8-4CBC-976B-497F13E56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450" y="173038"/>
            <a:ext cx="10977563" cy="1058862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ACADEMY OF TECHNOLOGY</a:t>
            </a:r>
            <a:b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pic>
        <p:nvPicPr>
          <p:cNvPr id="4099" name="Picture 3" descr="K:\ns2 templates\KIRAN NS-2\college_logo3.png">
            <a:extLst>
              <a:ext uri="{FF2B5EF4-FFF2-40B4-BE49-F238E27FC236}">
                <a16:creationId xmlns:a16="http://schemas.microsoft.com/office/drawing/2014/main" id="{E1FC3CF1-A573-4939-9159-7C15F35E6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73038"/>
            <a:ext cx="9239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975F29-D46D-4633-AC86-317A470C5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894316"/>
              </p:ext>
            </p:extLst>
          </p:nvPr>
        </p:nvGraphicFramePr>
        <p:xfrm>
          <a:off x="1133158" y="1405255"/>
          <a:ext cx="10375901" cy="5134040"/>
        </p:xfrm>
        <a:graphic>
          <a:graphicData uri="http://schemas.openxmlformats.org/drawingml/2006/table">
            <a:tbl>
              <a:tblPr/>
              <a:tblGrid>
                <a:gridCol w="1322388">
                  <a:extLst>
                    <a:ext uri="{9D8B030D-6E8A-4147-A177-3AD203B41FA5}">
                      <a16:colId xmlns:a16="http://schemas.microsoft.com/office/drawing/2014/main" val="1753061745"/>
                    </a:ext>
                  </a:extLst>
                </a:gridCol>
                <a:gridCol w="5672138">
                  <a:extLst>
                    <a:ext uri="{9D8B030D-6E8A-4147-A177-3AD203B41FA5}">
                      <a16:colId xmlns:a16="http://schemas.microsoft.com/office/drawing/2014/main" val="2810612274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3872101471"/>
                    </a:ext>
                  </a:extLst>
                </a:gridCol>
                <a:gridCol w="2182813">
                  <a:extLst>
                    <a:ext uri="{9D8B030D-6E8A-4147-A177-3AD203B41FA5}">
                      <a16:colId xmlns:a16="http://schemas.microsoft.com/office/drawing/2014/main" val="2756061811"/>
                    </a:ext>
                  </a:extLst>
                </a:gridCol>
              </a:tblGrid>
              <a:tr h="565150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Subject Name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Project Work Phase II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 Code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22CSEP76</a:t>
                      </a:r>
                      <a:endParaRPr kumimoji="0" lang="en-I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33592"/>
                  </a:ext>
                </a:extLst>
              </a:tr>
              <a:tr h="454025">
                <a:tc rowSpan="4"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Harshitha N. K.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1GA22C071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029336"/>
                  </a:ext>
                </a:extLst>
              </a:tr>
              <a:tr h="454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Shreya N.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1GA22C153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920807"/>
                  </a:ext>
                </a:extLst>
              </a:tr>
              <a:tr h="454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Swara Shetty M. </a:t>
                      </a: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1GA22C173</a:t>
                      </a: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772788"/>
                  </a:ext>
                </a:extLst>
              </a:tr>
              <a:tr h="454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Swathi K. N.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1GA22C174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29980"/>
                  </a:ext>
                </a:extLst>
              </a:tr>
              <a:tr h="658813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  <a:endParaRPr kumimoji="0" lang="en-I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of Things (IOT) 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No:</a:t>
                      </a:r>
                      <a:endParaRPr kumimoji="0" lang="en-I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51 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81094"/>
                  </a:ext>
                </a:extLst>
              </a:tr>
              <a:tr h="658813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“Next-Generation Waste Management: A Smart, Sensor-Based and Community-Driven Approach”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51003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Undertaken at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Global Academy of Technology 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626723"/>
                  </a:ext>
                </a:extLst>
              </a:tr>
              <a:tr h="565150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Name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 Prof. Shwetha N</a:t>
                      </a:r>
                      <a:endParaRPr kumimoji="0" lang="en-I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7903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D770D4D-54C1-41F0-84FD-E5BF7FB5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263"/>
          </a:xfrm>
        </p:spPr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680A-6C38-4013-8DEC-DCDB56AC9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950"/>
            <a:ext cx="10515600" cy="5221288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</a:p>
          <a:p>
            <a:pPr fontAlgn="auto">
              <a:spcAft>
                <a:spcPts val="0"/>
              </a:spcAft>
              <a:defRPr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8A65C4-C01F-4288-9ABE-F60137948D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89720" y="6356350"/>
            <a:ext cx="2743200" cy="36512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altLang="en-US" dirty="0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fld id="{B5FD5540-4519-4A87-BC1F-BE314C4127B3}" type="slidenum">
              <a:rPr lang="en-IN" altLang="en-US" smtClean="0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IN" altLang="en-US" dirty="0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FA6828-B75A-4F9C-B6D3-F360D1467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126480"/>
            <a:ext cx="6045200" cy="456883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A2842A6-2458-42CE-B956-C5AF33DB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E58B38B8-E625-48EF-AFA6-6AB64922A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351338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of Things (IoT) is a growing technology domain that enables devices to communicate and act autonomously through sensors and network connectivity.</a:t>
            </a:r>
          </a:p>
          <a:p>
            <a:pPr algn="just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urban waste management, IoT offers powerful solutions for automation, monitoring, and real-time data collection.</a:t>
            </a:r>
          </a:p>
          <a:p>
            <a:pPr algn="just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challenges like inefficient waste segregation, delayed collection, and poor visibility in waste tracking and reporting.</a:t>
            </a:r>
          </a:p>
          <a:p>
            <a:pPr algn="just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bins, tracking-enabled vehicles, and sensor-driven systems are becoming integral parts of sustainable urban infrastructure.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504A6B-ED39-4DEE-A244-01412FCBC8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8932AD7-75E8-4031-89A9-A864346EDD5E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511168-25A2-4741-B057-1267CFDF1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54000" y="6024245"/>
            <a:ext cx="6949440" cy="58991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BDA6BF2-0170-4479-9703-525B3423F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B7882-024E-44C8-BB39-0FDA6AA8C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hangingPunct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areas face increased waste generation, overwhelming traditional collection and segregation methods.</a:t>
            </a:r>
          </a:p>
          <a:p>
            <a:pPr eaLnBrk="1" hangingPunct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and tracking leads to issues like overflowing bins and illegal dumping.</a:t>
            </a:r>
          </a:p>
          <a:p>
            <a:pPr eaLnBrk="1" hangingPunct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public participation and absence of digital reporting systems hinder timely resolution of waste-related issues.</a:t>
            </a: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2920F-3D6B-4072-A9A8-AB2C9505DD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C629EAA-1A66-46C7-8CCE-31F50577522B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43F6DC9-01B5-4E06-BACE-BA33FAA559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45440" y="6090444"/>
            <a:ext cx="6725920" cy="513556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1B0DA52-C490-457E-B1C3-EFAD747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84DF96-8F23-4C33-B2DB-22041926D7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07B2A9-7E37-459D-B6CA-3EE221E02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08948"/>
            <a:ext cx="7904480" cy="41252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E37466-F7F0-AECD-EC28-ACC94FD8D9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52563"/>
          <a:ext cx="10515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31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author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Scope/SCI Date of Publication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and methodology used </a:t>
                      </a:r>
                    </a:p>
                  </a:txBody>
                  <a:tcPr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identified/ limitation</a:t>
                      </a:r>
                    </a:p>
                  </a:txBody>
                  <a:tcPr marT="45736" marB="457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Innovative Waste Management: The Efficiency of IoT-Enabled Smart Bins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(2024)-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Shiva Mehta, Abhinav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Rathour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6" marB="4573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IEEE ICCPCT (Scopus), 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Real-time monitoring using ultrasonic, temperature, tilt, and weight sensors; pilot study over 6 months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Sensor calibration issues and scalability in high-density zones; long-term environmental impact assessment limited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147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IoT-based Smart Waste Disposal and </a:t>
                      </a:r>
                      <a:r>
                        <a:rPr lang="en-IN" sz="18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Credibin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Rewards System for Sustainable Campus Waste Management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K.S. Abishek et al.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(Scopus indexed)ICEARS 2025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Real-time sensor data from ultrasonic &amp; weight sensors; barcode-based user ID; cloud integration; reward system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Lack of intelligent reward integration in campus systems; existing systems are manual with no incentive mechanism or anomaly detection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2920-E99C-6BFF-1288-D143969E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7C61EA0-557A-F575-FDFF-41D121FB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E68700-DD0C-8161-FE6F-690C1D0802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618B7E8-5E53-BD24-266A-359CE4F2E1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08948"/>
            <a:ext cx="7904480" cy="41252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58CAA39-B5FE-669D-A79E-4EEA355BC3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52563"/>
          <a:ext cx="10515600" cy="438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1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author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Scope/SCI Date of Publication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and methodology used 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identified/ limitation</a:t>
                      </a:r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10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Waste Management Scheduling Using Optimization and Decision Support Algorithms-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Jayson</a:t>
                      </a: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Batoon et al.</a:t>
                      </a:r>
                    </a:p>
                  </a:txBody>
                  <a:tcPr marT="45729" marB="4572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Scopus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August 2024 (ICSGRC Conference)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Mobile-based truck scheduling, GPS tracking, decision-support algorithms (queuing, optimization)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Most current platforms lacked integration of real-time tracking, scheduling optimization, and social engagement features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076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IoT-Enabled Intelligent Garbage Management System for Smart City-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nl-NL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Md. Arafatur Rahman et al.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Scopus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June 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LoRa-based IoT system, CVRP optimization, Fairness-Based Optimum Solution (FBOS)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Prior works ignored fairness in vehicle routing for waste collection, leading to distance/time disparity among trucks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88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7686-72F9-8C89-5999-6EA064C8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C69B954-78D5-3F91-25AD-F3D0DB50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5BFF0-F0AC-7F26-6DB5-6E83241B6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21CC1B-E747-6935-7DDF-9CA6BDC6F8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08948"/>
            <a:ext cx="7904480" cy="41252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BA1633D9-C9B7-9830-06A6-0676A411B3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281897"/>
              </p:ext>
            </p:extLst>
          </p:nvPr>
        </p:nvGraphicFramePr>
        <p:xfrm>
          <a:off x="838200" y="1511300"/>
          <a:ext cx="10515600" cy="4665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38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author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Scope/SCI Date of Publication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and methodology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identified/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6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Garbage Monitoring System using IoT</a:t>
                      </a:r>
                      <a:b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Mithun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etal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ICNWC (Scopus), 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ESP32, ultrasonic sensor, GPS, GSM; mobile app for real-time alerts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security and sensor reliability in low-connectivity areas; effectiveness in high-density regions untested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26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IoT-Based Smart Waste Management System with Level Indicators</a:t>
                      </a:r>
                      <a:b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Mary P.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Vargheseetal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ICDCECE (Scopus), 2024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bins with ultrasonic sensors, LoRa-based communication, GPS, and level indicators for segregation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Gateway placement and power optimization not fully addressed; simulation-based, lacks real-world deployment validation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566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3EC97-EF31-A9CB-2A10-91106BB5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821A0F80-C371-62A4-E45A-023C2DB9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A1C772-E8BE-0678-C3AE-642731730C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1235E6-D558-31AA-90F3-38B532B377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08948"/>
            <a:ext cx="7904480" cy="41252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5AB4C194-16BD-0D2C-87E6-8384770709F2}"/>
              </a:ext>
            </a:extLst>
          </p:cNvPr>
          <p:cNvGraphicFramePr>
            <a:graphicFrameLocks/>
          </p:cNvGraphicFramePr>
          <p:nvPr/>
        </p:nvGraphicFramePr>
        <p:xfrm>
          <a:off x="838200" y="1511300"/>
          <a:ext cx="10515600" cy="4665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38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author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Scope/SCI Date of Publication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and methodology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identified/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263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Smart Waste Management System with Optimized Routing Method 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Perumalla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Dharan, V. M. Manikandan</a:t>
                      </a:r>
                    </a:p>
                  </a:txBody>
                  <a:tcPr marL="68577" marR="68577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(Scopus indexed)ICCCNT 2024</a:t>
                      </a:r>
                    </a:p>
                  </a:txBody>
                  <a:tcPr marL="68577" marR="68577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Arduino MKR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1010, ultrasonic sensors, ML (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PyVRP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for optimized route planning</a:t>
                      </a:r>
                    </a:p>
                  </a:txBody>
                  <a:tcPr marL="68577" marR="68577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on routing and fill-levels; lacks user engagement, reward strategies or multi-type waste separation</a:t>
                      </a:r>
                    </a:p>
                  </a:txBody>
                  <a:tcPr marL="68577" marR="6857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263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IoT-Based Smart System for Garbage Detection and Segregation</a:t>
                      </a:r>
                      <a:b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Dr. M.V.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Rajeshetal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SILCON (Scopus), 2023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Ultrasonic sensors, servo motors, moisture sensors, image processing for segregation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by fixed threshold values; environmental sensor coverage (gas, humidity) not included; real-time segregation not validated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57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C7A6-69C2-62B8-96B3-0CCA77D5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6C6EDFF-CF80-9FFA-82B3-3E3A98DE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F216F8-AA9B-4800-1A25-E3CDD1BE9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75302C5-3FF2-F09D-121D-348F15E77A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08948"/>
            <a:ext cx="7904480" cy="412527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FBE9D72-A00A-6EE3-2F78-B549F85B01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9777953"/>
              </p:ext>
            </p:extLst>
          </p:nvPr>
        </p:nvGraphicFramePr>
        <p:xfrm>
          <a:off x="561975" y="1352550"/>
          <a:ext cx="11263314" cy="484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5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9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author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Scope/SCI Date of Publication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and methodology used </a:t>
                      </a:r>
                    </a:p>
                  </a:txBody>
                  <a:tcPr marL="91435" marR="91435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identified/ limitation</a:t>
                      </a:r>
                    </a:p>
                  </a:txBody>
                  <a:tcPr marL="91435" marR="91435"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66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IoT-enabled Smart Waste Management: Leveraging the Power of IoT for Sustainable Solutions</a:t>
                      </a:r>
                      <a:b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Righa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Tandon, Abhishek Bansal</a:t>
                      </a: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CISCT (Scopus), 2023</a:t>
                      </a: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Multi-layer architecture (IoT-Fog-Cloud), smart bins with various sensors (IR, ultrasonic, temperature), integration with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WasteSense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system for real-time alerts</a:t>
                      </a: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cost of deployment, limited scalability, security/privacy concerns, regulatory and stakeholder engagement challenges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28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Smart-Dustbin and Integration of Waste Management Using IoT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G.V.V.S.L. Rupesh et al.</a:t>
                      </a:r>
                    </a:p>
                  </a:txBody>
                  <a:tcPr marL="68573" marR="6857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Scopus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2022 (ICIRCA Conference)</a:t>
                      </a:r>
                    </a:p>
                  </a:txBody>
                  <a:tcPr marL="68573" marR="6857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IoT-based smart bins using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sensors for bin level detection, GSM/Wi-Fi for monitoring</a:t>
                      </a:r>
                    </a:p>
                  </a:txBody>
                  <a:tcPr marL="68573" marR="68573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Existing municipal systems often rely on manual schedules and do not have the capability to monitor the real-time status of waste bins, leading to overflowing garbage and inefficient cleaning cycles.</a:t>
                      </a:r>
                    </a:p>
                  </a:txBody>
                  <a:tcPr marL="68573" marR="6857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38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469FDDD-5736-48EC-9005-0048383A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E27CF51A-2DB6-4262-B2B3-A868B7A44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lnSpc>
                <a:spcPct val="10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comprehensive and user-friendly web application that enables users to report feed back and issues such as missed garbage collection and illegal dumping directly to municipal authorities for swift action.</a:t>
            </a:r>
            <a:endParaRPr lang="en-I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deploy an IOT based automated waste segregation system.</a:t>
            </a:r>
            <a:endParaRPr lang="en-I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contribute to environmental sustainability by reducing landfill dependency and encouraging responsible waste disposal habits among citizens through technological and community-driven approaches. </a:t>
            </a:r>
          </a:p>
          <a:p>
            <a:pPr marL="514350" indent="-514350" algn="just">
              <a:lnSpc>
                <a:spcPct val="10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IoT-enabled tracking system that provides updates for garbage collection trucks and improving efficiency.</a:t>
            </a:r>
            <a:endParaRPr lang="en-I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92178-EDDD-422D-9C3A-D1ED4052CD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2273891-FC09-4C56-A21E-C468E68F0198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CBE9510-9E12-41A5-B572-0C638F7C32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2400" y="6176964"/>
            <a:ext cx="800100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1B0DA52-C490-457E-B1C3-EFAD7473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37EA8807-814E-434E-A854-959DC39AE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834"/>
            <a:ext cx="10515600" cy="4759129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Three-Layer Architecture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Hardware Layer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Layer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/ Dashboard Layer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Hardware Layer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dustbin with separate compartments for wet, dry, and metallic waste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used: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– bin level detection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– object detection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Raindrop – wet waste identification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Proximity sensor – metallic waste detection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processes sensor data and controls segregation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Layer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sent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visualizes bin level and waste-type data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gauges and charts for dashboards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sends SMS alerts to drivers when bins are full</a:t>
            </a: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84DF96-8F23-4C33-B2DB-22041926D7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07B2A9-7E37-459D-B6CA-3EE221E02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176964"/>
            <a:ext cx="815340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69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F237-C96F-093C-A856-35F06B9C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2ACCAED-A0C6-A15D-8DC6-1535C812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1AAC31D9-4D48-B5BE-D695-95C242C00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/ Dashboard Layer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live bin status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drivers and views user feedback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462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registration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view of bin locations and segregation graphs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reward system</a:t>
            </a:r>
          </a:p>
          <a:p>
            <a:pPr marL="174625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Dashboard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login 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2438">
              <a:lnSpc>
                <a:spcPct val="100000"/>
              </a:lnSpc>
              <a:spcBef>
                <a:spcPts val="0"/>
              </a:spcBef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bin status.</a:t>
            </a: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8B8440-E62C-227C-7A1E-3161919775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10A70D1-B0A5-47B6-9555-83E267891370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28C9DDE-5237-AE4B-9E69-E1012BA4E9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176964"/>
            <a:ext cx="815340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43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le 1">
            <a:extLst>
              <a:ext uri="{FF2B5EF4-FFF2-40B4-BE49-F238E27FC236}">
                <a16:creationId xmlns:a16="http://schemas.microsoft.com/office/drawing/2014/main" id="{D9546608-DB88-4CCC-AC7B-EA6DD4B1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307167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30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Architecture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40745B-CC87-40BC-BC51-375C1659C4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kern="12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6B87C4-2BF3-47CF-9A10-1953B1F4F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600"/>
              </a:spcAft>
            </a:pPr>
            <a:fld id="{CE202B46-4DA9-4460-9B92-7CFCA253127D}" type="slidenum">
              <a:rPr lang="en-US" altLang="en-US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Aft>
                  <a:spcPts val="600"/>
                </a:spcAft>
              </a:pPr>
              <a:t>13</a:t>
            </a:fld>
            <a:endParaRPr lang="en-US" altLang="en-US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7">
            <a:extLst>
              <a:ext uri="{FF2B5EF4-FFF2-40B4-BE49-F238E27FC236}">
                <a16:creationId xmlns:a16="http://schemas.microsoft.com/office/drawing/2014/main" id="{619B24F0-4403-E2FD-439D-892026FD4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340327" y="1253331"/>
            <a:ext cx="7593765" cy="4351338"/>
          </a:xfrm>
          <a:prstGeom prst="rect">
            <a:avLst/>
          </a:prstGeom>
          <a:noFill/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067" y="-263790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designed for the Complete work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8835D-A1C4-057A-E7A5-9ED6F5F2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867"/>
            <a:ext cx="10515600" cy="5381096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1: Waste Detection and Segregation Algorithm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 sensor, Metal sensor, Moisture sensor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Segregated waste (Dry / Wet / Metallic)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IR, metal, and moisture sensors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for object detection using IR sensor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metal sensor detects metal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Rotate stepper motor to metallic bin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 moisture sensor detects wet waste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Rotate stepper motor to wet bin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Classify waste as dry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Activate servo motor to open dry bin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servo and stepper to default position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41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300D-D243-7DC7-FE6D-3635CA35E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1A2B-1C1E-AE6E-E577-ECBA08E5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designed for the Complete work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4EB56-EE86-21E0-7662-606A174A15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3C76-A2CB-9866-0421-C0D6F40EA3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AD247-2B36-3138-6540-4F262B127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1467"/>
            <a:ext cx="10515600" cy="5025496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2: Segregation Mechanism Control Algorithm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 type from sensors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Mechanical movement of bins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stepper motor speed and direction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waste is metallic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Rotate stepper motor anticlockwise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waste is wet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Rotate stepper motor clockwise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servo flap to drop waste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servo flap after delay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stepper motor back to initial 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24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6107481A-A221-1CE8-7ADA-E20864F5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Presentation &amp; Demonstration</a:t>
            </a:r>
            <a:endParaRPr lang="en-US" altLang="en-US" b="1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BE34B85-6439-858A-8A99-DB94DF0E5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TEST CASE 1: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1BE6EF33-8FC0-158D-2DE6-37790BCC0B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5C42BF0-F0BA-4BEC-BFEF-185B471DC7CC}" type="slidenum">
              <a:rPr lang="en-IN" altLang="en-US" smtClean="0"/>
              <a:pPr/>
              <a:t>16</a:t>
            </a:fld>
            <a:endParaRPr lang="en-IN" alt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DEEE08A-D468-3C46-34EE-79AE1A0A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949" y="2504757"/>
            <a:ext cx="6624101" cy="3807143"/>
          </a:xfrm>
          <a:prstGeom prst="rect">
            <a:avLst/>
          </a:prstGeom>
        </p:spPr>
      </p:pic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B550D4AF-0CA6-BD7D-D4AE-C5E3847CB1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673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AD7E6-F2A3-9AC2-6F56-CD359607A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/>
              <a:pPr/>
              <a:t>17</a:t>
            </a:fld>
            <a:endParaRPr lang="en-IN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DBD5D2-8B98-1CBF-B967-E1840458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Presentation &amp; Demonstration</a:t>
            </a:r>
            <a:endParaRPr lang="en-US" alt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8E0A6D-9BF4-EA6E-1C4F-9F17F2D2F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TEST CASE 2: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7284C-200C-3C53-B3A3-8AD79CFE1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61" y="2432118"/>
            <a:ext cx="2838782" cy="3138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D5483B-5E68-F57B-3BFA-7445305E2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009" y="2432118"/>
            <a:ext cx="2838782" cy="3138351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F9E7E8C-7202-0CFB-AF1F-013EC8DCDE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65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F825-87B8-2BC2-7AEB-407F73A2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2069D-5616-0065-502F-53E11EE970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/>
              <a:pPr/>
              <a:t>18</a:t>
            </a:fld>
            <a:endParaRPr lang="en-I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DBDEB-69BE-D872-16E5-3611D1B9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/>
              <a:t>Results – Presentation &amp;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1C6E3-F13B-AE42-A345-3512BF89D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TEST CASE 3: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07AF1-76DE-BB04-5073-A7DAA22D9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495" y="2364806"/>
            <a:ext cx="4345509" cy="3272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EBEEBF-0293-EFBD-0241-5186AA275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660"/>
          <a:stretch>
            <a:fillRect/>
          </a:stretch>
        </p:blipFill>
        <p:spPr>
          <a:xfrm>
            <a:off x="2239397" y="2364807"/>
            <a:ext cx="3045956" cy="3272971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76FFD5C-9E84-5D53-71AE-44A576B864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59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3760-D474-E0A7-023D-CF4ED35A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0D9C9-39F2-A508-1F54-60CBDE513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/>
              <a:pPr/>
              <a:t>19</a:t>
            </a:fld>
            <a:endParaRPr lang="en-I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2D14D-5CA4-2301-A60A-E236E953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Presentation &amp; Demonstration</a:t>
            </a:r>
            <a:endParaRPr lang="en-US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EB23-5C7F-FA4E-B454-A24CD84C2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TEST CASE 4: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B03B1-3604-B456-DB4F-3E16F3F9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43" y="2418322"/>
            <a:ext cx="2995421" cy="3164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7C541D-71D0-2BBB-CC02-54ED06CF0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80" y="2418321"/>
            <a:ext cx="3000677" cy="3164859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09CA196-C56A-BB64-C694-6DC65582D4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50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OR PAPER PUBLICATIONS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8533A0-0DBB-4353-6A73-55526C886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" t="3795" r="1781" b="26814"/>
          <a:stretch>
            <a:fillRect/>
          </a:stretch>
        </p:blipFill>
        <p:spPr>
          <a:xfrm>
            <a:off x="3657600" y="1485900"/>
            <a:ext cx="4876800" cy="479026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/>
              <a:pPr/>
              <a:t>20</a:t>
            </a:fld>
            <a:endParaRPr lang="en-IN" alt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DA2EC90-5F58-3782-F3A2-404C704415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74320" y="6176964"/>
            <a:ext cx="7879080" cy="5445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437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060"/>
            <a:ext cx="10515600" cy="4351338"/>
          </a:xfrm>
        </p:spPr>
        <p:txBody>
          <a:bodyPr/>
          <a:lstStyle/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Mehta and A.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Rathour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"Innovative Waste Management: The Efficiency of IoT-Enabled Smart Bins," 2024 7th International Conference on Circuit Power and Computing Technologies (ICCPCT), Kollam, India, 2024, pp. 467-471,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10.1109/ICCPCT61902.2024.10672653.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management;Costs;Urban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areas;Systems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architecture;Carbon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dioxide;Real-time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systems;Software;Smart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Cities;Waste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Things (IoT);Ultrasonic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Sensors;Embedded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Devices;Urban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Sanitation},</a:t>
            </a:r>
          </a:p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Rahman, S. W. Tan, A. Taufiq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Asyhari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F. Kurniawan, M. J. F.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Alenazi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Uddin, "IoT-Enabled Intelligent Garbage Management System for Smart City: A Fairness Perspective," in IEEE Access, vol. 12, pp. 82693-82705, 2024,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10.1109/ACCESS.2024.3412098.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Things;Monitoring;Waste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materials;Smart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cities;Real-time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systems;Costs;Fairness;garbage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collection;IoT;LoRa;smart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management},</a:t>
            </a:r>
          </a:p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A. Batoon, S. M. D. Lainez, R. M. de Angel, A. C. Lagman, R. F. Ramos and V. D.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Dorongon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"Waste Management Scheduling Using Optimization and Decision Support Algorithms," 2024 IEEE 15th Control and System Graduate Research Colloquium (ICSGRC), SHAH ALAM, Malaysia, 2024, pp. 222-226,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10.1109/ICSGRC62081.2024.10690878.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management;Schedules;Reviews;Software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algorithms;Prototypes;Scheduling;Mobile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handsets;Software;Optimization;Software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management;Component;Garbage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Management;Community;GPS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Tracking;and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Technology},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23520" y="6004560"/>
            <a:ext cx="7929880" cy="71691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91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343E-0619-D9AC-9E51-D6597EEEF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EB3C-AAF4-65DB-784B-5EEF27AF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85AE-7F3C-7EFF-8E56-6F9971397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060"/>
            <a:ext cx="10515600" cy="4351338"/>
          </a:xfrm>
        </p:spPr>
        <p:txBody>
          <a:bodyPr/>
          <a:lstStyle/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V. Rajesh, A. Lakshmanarao, J. S. A.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Rongala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C. D. Priyanka, "IOT based smart system for garbage detection and segregation," 2023 IEEE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Silchar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Subsection Conference (SILCON),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Silchar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India, 2023, pp. 1-4,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10.1109/SILCON59133.2023.10405323. keywords: {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Economics;Waste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management;Urban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areas;Robot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sensing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systems;Acoustics;Recycling;Monitoring;Garbage;IOT;Smart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Dustbin;Ultrasonic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Sensors},</a:t>
            </a:r>
          </a:p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P, J. E. G S and L. R. B. Raj S, "Garbage monitoring system using IoT," 2024 2nd International Conference on Networking and Communications (ICNWC), Chennai, India, 2024, pp. 1-6,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10.1109/ICNWC60771.2024.10537580.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management;Wireless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materials;Data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analysis;Wireless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networks;Real-time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systems;Servers;Industrial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device;actual-time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systems;systems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sensors;distant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observation;solid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refuse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management;dust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bin;solar-powered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</a:p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P. Varghese, V. S. Anooja, R. Akhila, M. Krishnakumar and A. Xavier, "IoT-Based Smart Waste Management System with Level Indicators for Effective Garbage Waste Segregation," 2024 Third International Conference on Distributed Computing and Electrical Circuits and Electronics (ICDCECE), Ballari, India, 2024, pp. 1-5,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10.1109/ICDCECE60827.2024.10548589.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management;Visualization;Urban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areas;Recycling;Internet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Things;Sustainable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disposal;Garbage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Segregation;Internet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Things;Level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Indicators;Smart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Management;Urban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areas},</a:t>
            </a:r>
          </a:p>
          <a:p>
            <a:pPr algn="just" eaLnBrk="1" hangingPunct="1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272C-EA57-E6C5-1B08-7AE460F1F1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3520" y="6004560"/>
            <a:ext cx="7929880" cy="71691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E1539-02F4-DDE6-CB71-74BC1B5743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060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B1D3-EE93-863E-BF2B-43835EFA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43C-23AF-920F-EB9A-8A8E4803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888C-BD7F-EA69-DD6D-8092C9FB3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865"/>
            <a:ext cx="10515600" cy="4351338"/>
          </a:xfrm>
        </p:spPr>
        <p:txBody>
          <a:bodyPr/>
          <a:lstStyle/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Tandon and A. Bansal, "IoT-enabled Smart Waste Management: Leveraging the Power of IoT for Sustainable Solutions," 2023 3rd International Conference on Innovative Sustainable Computational Technologies (CISCT), Dehradun, India, 2023, pp. 1-6,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10.1109/CISCT57197.2023.10351210.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management;Wireless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networks;Costs;Sociology;Transportation;Electronic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things (IoT);Waste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Cities;Computer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vision;Sustainable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development},</a:t>
            </a:r>
          </a:p>
          <a:p>
            <a:pPr algn="just" eaLnBrk="1" hangingPunct="1"/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K.S.Abishek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D.Deepak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D. Babu and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S.Keerthana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"An IoT-based Smart Waste Disposal and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Credibin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Rewards System for Sustainable Campus Waste Management," 2025 International Conference on Electronics and Renewable Systems (ICEARS), Tuticorin, India, 2025, pp. 674-679,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10.1109/ICEARS64219.2025.10941118. keywords: {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Schedules;Renewable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sources;Scalability;Green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products;Sensor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systems;Real-time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systems;Acoustics;Waste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disposal;Sustainable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development;Intelligent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sensors;IoT;Ultrasonic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Sensors;Weight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Detection;Real-Time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Monitoring;Incentive-Based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Reward},</a:t>
            </a:r>
          </a:p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Dharan and V. M. Manikandan, "A Smart Waste Management System with Optimized Routing Method," 2024 15th International Conference on Computing Communication and Networking Technologies (ICCCNT), Kamand, India, 2024, pp. 1-6,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10.1109/ICCCNT61001.2024.10725635.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management;Technological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innovation;Costs;Smart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cities;Real-time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systems;Acoustics;Sensor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systems;Fuels;Wireless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fidelity;Intelligent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Dustbin;Arduino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MKR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1010;Ultrasonic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sensors;Smart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Garbage;Waste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collection;Route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things;Machine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learning},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4AC00-5665-5947-CC1B-9913F85593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3520" y="6004560"/>
            <a:ext cx="7929880" cy="71691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9CF9B-B3BD-C89A-ADB0-45F2081FA9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57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A26E-2FE8-54A9-F660-F16183BA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3983-3142-8ECA-A461-68417999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5FC8-DC13-4950-3332-785F845F3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865"/>
            <a:ext cx="10515600" cy="4351338"/>
          </a:xfrm>
        </p:spPr>
        <p:txBody>
          <a:bodyPr/>
          <a:lstStyle/>
          <a:p>
            <a:pPr algn="just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V. V. S. L. Rupesh, M. S.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Advytha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B. Prakash, V. Sahu, A. Gupta and S. K.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Dargar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Smart-Dustbin and Integration of Waste Management System using IoT," 2022 4th International Conference on Inventive Research in Computing Applications (ICIRCA), Coimbatore, India, 2022, pp. 393-397,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10.1109/ICIRCA54612.2022.9985021. keywords: {Waste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cities;Organizations;Filling;Internet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Things;Monitoring;Meteorology;IoT;Embedded;Smart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city;Node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MCU;Arduino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265D1-F2C8-BA82-9A70-3ED8D2576D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3520" y="6004560"/>
            <a:ext cx="7929880" cy="71691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EB4B2-95DF-8C13-221D-8C991C47AB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42BF0-F0BA-4BEC-BFEF-185B471DC7CC}" type="slidenum">
              <a:rPr lang="en-I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95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00A5F769-DE9F-4ED6-B754-42F8F89CE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5288"/>
            <a:ext cx="10515600" cy="5781675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endParaRPr lang="en-IN" alt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N" altLang="en-US" sz="7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alt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DEF0E0-4B2D-4E8C-9DBA-BA417E1E51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0F68421-9D82-44FE-A25A-82D9B9DCA617}" type="slidenum">
              <a:rPr lang="en-IN" altLang="en-US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IN" altLang="en-US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441ACA-5084-4374-A043-163C2DB5EC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EFDA05AD-7EBD-47CD-907C-46D6B2B8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alt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6931C5-34E5-4A17-A1EF-BE83D3ECA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AB49DE1-49C3-4121-871A-BF84C4CA41A3}" type="slidenum">
              <a:rPr lang="en-IN" altLang="en-US">
                <a:solidFill>
                  <a:srgbClr val="898989"/>
                </a:solidFill>
              </a:rPr>
              <a:pPr/>
              <a:t>26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91953D-2EF8-42C2-91CC-87F643E86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2080" y="6268720"/>
            <a:ext cx="8021320" cy="452755"/>
          </a:xfrm>
        </p:spPr>
        <p:txBody>
          <a:bodyPr/>
          <a:lstStyle/>
          <a:p>
            <a:pPr>
              <a:defRPr/>
            </a:pPr>
            <a:r>
              <a:rPr lang="en-US" dirty="0"/>
              <a:t>Dept of CSE,GAT                                                                                                    2025-26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2615</Words>
  <Application>Microsoft Office PowerPoint</Application>
  <PresentationFormat>Widescreen</PresentationFormat>
  <Paragraphs>261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GLOBAL ACADEMY OF TECHNOLOGY DEPARTMENT OF COMPUTER SCIENCE AND ENGINEERING</vt:lpstr>
      <vt:lpstr>Agenda</vt:lpstr>
      <vt:lpstr>Introduction</vt:lpstr>
      <vt:lpstr>Problem Statement</vt:lpstr>
      <vt:lpstr>Literature Survey</vt:lpstr>
      <vt:lpstr>Literature Survey</vt:lpstr>
      <vt:lpstr>Literature Survey</vt:lpstr>
      <vt:lpstr>Literature Survey</vt:lpstr>
      <vt:lpstr>Literature Survey</vt:lpstr>
      <vt:lpstr>Objectives </vt:lpstr>
      <vt:lpstr>Architecture</vt:lpstr>
      <vt:lpstr>Architecture</vt:lpstr>
      <vt:lpstr>Sample Architecture </vt:lpstr>
      <vt:lpstr>Algorithm designed for the Complete work </vt:lpstr>
      <vt:lpstr>Algorithm designed for the Complete work </vt:lpstr>
      <vt:lpstr>Results – Presentation &amp; Demonstration</vt:lpstr>
      <vt:lpstr>Results – Presentation &amp; Demonstration</vt:lpstr>
      <vt:lpstr>Results – Presentation &amp; Demonstration</vt:lpstr>
      <vt:lpstr>Results – Presentation &amp; Demonstration</vt:lpstr>
      <vt:lpstr>PROJECT WORK OR PAPER PUBLICATIONS</vt:lpstr>
      <vt:lpstr>References </vt:lpstr>
      <vt:lpstr>References </vt:lpstr>
      <vt:lpstr>References </vt:lpstr>
      <vt:lpstr>References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ACADEMY OF TECHNOLOGY DEPARTMENT OF COMPUTER SCIENCE AND ENGINEERING</dc:title>
  <dc:creator>admin</dc:creator>
  <cp:lastModifiedBy>harshitha nk</cp:lastModifiedBy>
  <cp:revision>76</cp:revision>
  <dcterms:created xsi:type="dcterms:W3CDTF">2018-01-23T09:52:46Z</dcterms:created>
  <dcterms:modified xsi:type="dcterms:W3CDTF">2026-01-02T04:06:21Z</dcterms:modified>
</cp:coreProperties>
</file>